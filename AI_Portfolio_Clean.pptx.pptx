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1620" y="3041092"/>
            <a:ext cx="15727680" cy="3268268"/>
            <a:chOff x="0" y="0"/>
            <a:chExt cx="20970240" cy="4357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4357691"/>
            </a:xfrm>
            <a:custGeom>
              <a:avLst/>
              <a:gdLst/>
              <a:ahLst/>
              <a:cxnLst/>
              <a:rect r="r" b="b" t="t" l="l"/>
              <a:pathLst>
                <a:path h="4357691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357691"/>
                  </a:lnTo>
                  <a:lnTo>
                    <a:pt x="0" y="4357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2" r="0" b="-273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4357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AI CHATBOT</a:t>
              </a:r>
            </a:p>
            <a:p>
              <a:pPr algn="ctr">
                <a:lnSpc>
                  <a:spcPts val="10560"/>
                </a:lnSpc>
              </a:pPr>
              <a:r>
                <a:rPr lang="en-US" sz="8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RAG AI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5852160"/>
            <a:ext cx="15727680" cy="914400"/>
            <a:chOff x="0" y="0"/>
            <a:chExt cx="2097024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9702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00B4A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by Anagha Thampi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0160" y="8778240"/>
            <a:ext cx="7315200" cy="640080"/>
            <a:chOff x="0" y="0"/>
            <a:chExt cx="97536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028700"/>
            <a:ext cx="15727680" cy="1005840"/>
            <a:chOff x="0" y="0"/>
            <a:chExt cx="2097024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097024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2866" y="2409954"/>
            <a:ext cx="15727680" cy="1005840"/>
            <a:chOff x="0" y="0"/>
            <a:chExt cx="209702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97024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  Project 1  —  AI Chat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7463" y="3791207"/>
            <a:ext cx="15753083" cy="43691"/>
            <a:chOff x="0" y="0"/>
            <a:chExt cx="21004111" cy="58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04149" cy="58293"/>
            </a:xfrm>
            <a:custGeom>
              <a:avLst/>
              <a:gdLst/>
              <a:ahLst/>
              <a:cxnLst/>
              <a:rect r="r" b="b" t="t" l="l"/>
              <a:pathLst>
                <a:path h="58293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92866" y="3726690"/>
            <a:ext cx="15727680" cy="1005840"/>
            <a:chOff x="0" y="0"/>
            <a:chExt cx="2097024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97024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  <a:r>
                <a:rPr lang="en-US" sz="3000" b="true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2  —  RAG Document 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7463" y="5107943"/>
            <a:ext cx="15753083" cy="43691"/>
            <a:chOff x="0" y="0"/>
            <a:chExt cx="21004111" cy="58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04149" cy="58293"/>
            </a:xfrm>
            <a:custGeom>
              <a:avLst/>
              <a:gdLst/>
              <a:ahLst/>
              <a:cxnLst/>
              <a:rect r="r" b="b" t="t" l="l"/>
              <a:pathLst>
                <a:path h="58293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92866" y="5043426"/>
            <a:ext cx="15727680" cy="1005840"/>
            <a:chOff x="0" y="0"/>
            <a:chExt cx="2097024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097024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  Technologies Used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7463" y="6424679"/>
            <a:ext cx="15753083" cy="43691"/>
            <a:chOff x="0" y="0"/>
            <a:chExt cx="21004111" cy="58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04149" cy="58293"/>
            </a:xfrm>
            <a:custGeom>
              <a:avLst/>
              <a:gdLst/>
              <a:ahLst/>
              <a:cxnLst/>
              <a:rect r="r" b="b" t="t" l="l"/>
              <a:pathLst>
                <a:path h="58293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92866" y="6360162"/>
            <a:ext cx="15727680" cy="1005840"/>
            <a:chOff x="0" y="0"/>
            <a:chExt cx="209702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097024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</a:t>
              </a: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Business Impact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7463" y="7741415"/>
            <a:ext cx="15753083" cy="43691"/>
            <a:chOff x="0" y="0"/>
            <a:chExt cx="21004111" cy="58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04149" cy="58293"/>
            </a:xfrm>
            <a:custGeom>
              <a:avLst/>
              <a:gdLst/>
              <a:ahLst/>
              <a:cxnLst/>
              <a:rect r="r" b="b" t="t" l="l"/>
              <a:pathLst>
                <a:path h="58293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92866" y="7676898"/>
            <a:ext cx="15727680" cy="1005840"/>
            <a:chOff x="0" y="0"/>
            <a:chExt cx="2097024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75" r="0" b="-2546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2097024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  Future Scope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7463" y="9058151"/>
            <a:ext cx="15753083" cy="43691"/>
            <a:chOff x="0" y="0"/>
            <a:chExt cx="21004111" cy="582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04149" cy="58293"/>
            </a:xfrm>
            <a:custGeom>
              <a:avLst/>
              <a:gdLst/>
              <a:ahLst/>
              <a:cxnLst/>
              <a:rect r="r" b="b" t="t" l="l"/>
              <a:pathLst>
                <a:path h="58293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58293"/>
                  </a:lnTo>
                  <a:lnTo>
                    <a:pt x="0" y="58293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4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2926080"/>
            <a:ext cx="15727680" cy="640080"/>
            <a:chOff x="0" y="0"/>
            <a:chExt cx="2097024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853440"/>
            </a:xfrm>
            <a:custGeom>
              <a:avLst/>
              <a:gdLst/>
              <a:ahLst/>
              <a:cxnLst/>
              <a:rect r="r" b="b" t="t" l="l"/>
              <a:pathLst>
                <a:path h="853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775" r="0" b="-4287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9702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3749040"/>
            <a:ext cx="15727680" cy="2560320"/>
            <a:chOff x="0" y="0"/>
            <a:chExt cx="20970240" cy="3413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97024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AI Chatbot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It Does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2340864"/>
            <a:ext cx="15727680" cy="548640"/>
            <a:chOff x="0" y="0"/>
            <a:chExt cx="209702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70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conversational AI chatbot for automated business support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480" y="3090672"/>
            <a:ext cx="14996160" cy="548640"/>
            <a:chOff x="0" y="0"/>
            <a:chExt cx="199948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Holds real conversations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" y="3675888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Remembers everything said earlier — users never need to repeat themselves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4480" y="4828032"/>
            <a:ext cx="14996160" cy="548640"/>
            <a:chOff x="0" y="0"/>
            <a:chExt cx="199948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Always available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4480" y="5413248"/>
            <a:ext cx="14996160" cy="512064"/>
            <a:chOff x="0" y="0"/>
            <a:chExt cx="199948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Responds instantly, 24 hours a day, with no wait time or staffing cost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6565392"/>
            <a:ext cx="14996160" cy="548640"/>
            <a:chOff x="0" y="0"/>
            <a:chExt cx="199948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Fully configurable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4480" y="7150608"/>
            <a:ext cx="14996160" cy="512064"/>
            <a:chOff x="0" y="0"/>
            <a:chExt cx="199948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Businesses set the tone, focus, and behaviour through simple system prompts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54480" y="8302752"/>
            <a:ext cx="14996160" cy="548640"/>
            <a:chOff x="0" y="0"/>
            <a:chExt cx="1999488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Real-time responses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54480" y="8887968"/>
            <a:ext cx="14996160" cy="512064"/>
            <a:chOff x="0" y="0"/>
            <a:chExt cx="199948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Powered by Groq's fast AI engine for near-instant, accurate replies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Business Problem It Solves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4480" y="2907792"/>
            <a:ext cx="14996160" cy="548640"/>
            <a:chOff x="0" y="0"/>
            <a:chExt cx="199948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High support costs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480" y="3493008"/>
            <a:ext cx="14996160" cy="512064"/>
            <a:chOff x="0" y="0"/>
            <a:chExt cx="19994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Hiring and training support staff is expensive — AI handles routine queries automatically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" y="4645152"/>
            <a:ext cx="14996160" cy="548640"/>
            <a:chOff x="0" y="0"/>
            <a:chExt cx="199948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Slow response times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4480" y="5230368"/>
            <a:ext cx="14996160" cy="512064"/>
            <a:chOff x="0" y="0"/>
            <a:chExt cx="199948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expect instant answers; manual systems create frustrating delays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4480" y="6382512"/>
            <a:ext cx="14996160" cy="548640"/>
            <a:chOff x="0" y="0"/>
            <a:chExt cx="199948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Repetitive work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6967728"/>
            <a:ext cx="14996160" cy="512064"/>
            <a:chOff x="0" y="0"/>
            <a:chExt cx="199948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 spend hours answering the same questions, taking time away from higher-value tasks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4480" y="8119872"/>
            <a:ext cx="14996160" cy="548640"/>
            <a:chOff x="0" y="0"/>
            <a:chExt cx="199948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No after-hours support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54480" y="8705088"/>
            <a:ext cx="14996160" cy="512064"/>
            <a:chOff x="0" y="0"/>
            <a:chExt cx="199948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Human teams can't work 24/7 — AI is always on, for every time zone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Challenges &amp; How We Solved Them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4757" y="2545350"/>
            <a:ext cx="15753083" cy="1945643"/>
            <a:chOff x="0" y="0"/>
            <a:chExt cx="21004111" cy="2594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3214" y="3090134"/>
            <a:ext cx="14996160" cy="619552"/>
            <a:chOff x="0" y="0"/>
            <a:chExt cx="19994880" cy="8260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API Integration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3214" y="3399295"/>
            <a:ext cx="14996160" cy="877824"/>
            <a:chOff x="0" y="0"/>
            <a:chExt cx="19994880" cy="117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Studied the full request-response workflow and tested until the connection was reliable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4757" y="4776486"/>
            <a:ext cx="15753083" cy="1945643"/>
            <a:chOff x="0" y="0"/>
            <a:chExt cx="21004111" cy="2594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3214" y="5320655"/>
            <a:ext cx="14996160" cy="619552"/>
            <a:chOff x="0" y="0"/>
            <a:chExt cx="19994880" cy="8260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Conversation Memory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3214" y="5630431"/>
            <a:ext cx="14996160" cy="877824"/>
            <a:chOff x="0" y="0"/>
            <a:chExt cx="19994880" cy="11704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Built a structured message history that stores and replays the full chat context each time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4757" y="7007622"/>
            <a:ext cx="15753083" cy="1945643"/>
            <a:chOff x="0" y="0"/>
            <a:chExt cx="2100411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7551791"/>
            <a:ext cx="14996160" cy="619552"/>
            <a:chOff x="0" y="0"/>
            <a:chExt cx="19994880" cy="8260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Response Quality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33214" y="7861567"/>
            <a:ext cx="14996160" cy="877824"/>
            <a:chOff x="0" y="0"/>
            <a:chExt cx="1999488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Tuned prompts and AI parameters until outputs were consistent and accurate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4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2926080"/>
            <a:ext cx="15727680" cy="640080"/>
            <a:chOff x="0" y="0"/>
            <a:chExt cx="2097024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853440"/>
            </a:xfrm>
            <a:custGeom>
              <a:avLst/>
              <a:gdLst/>
              <a:ahLst/>
              <a:cxnLst/>
              <a:rect r="r" b="b" t="t" l="l"/>
              <a:pathLst>
                <a:path h="853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775" r="0" b="-4287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9702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3749040"/>
            <a:ext cx="15727680" cy="2560320"/>
            <a:chOff x="0" y="0"/>
            <a:chExt cx="20970240" cy="3413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97024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RAG Document AI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It Does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5920" y="2554620"/>
            <a:ext cx="14996160" cy="595573"/>
            <a:chOff x="0" y="0"/>
            <a:chExt cx="19994880" cy="794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Reads any PDF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" y="3139836"/>
            <a:ext cx="14996160" cy="512064"/>
            <a:chOff x="0" y="0"/>
            <a:chExt cx="19994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reports, manuals, or policies — the AI reads and indexes them automatically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4291980"/>
            <a:ext cx="14996160" cy="595573"/>
            <a:chOff x="0" y="0"/>
            <a:chExt cx="19994880" cy="794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Finds answers by meaning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920" y="4877196"/>
            <a:ext cx="14996160" cy="512064"/>
            <a:chOff x="0" y="0"/>
            <a:chExt cx="199948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search understands intent, not just keywords, for far more accurate results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6029340"/>
            <a:ext cx="14996160" cy="595573"/>
            <a:chOff x="0" y="0"/>
            <a:chExt cx="19994880" cy="7940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Shows its sources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6614556"/>
            <a:ext cx="14996160" cy="512064"/>
            <a:chOff x="0" y="0"/>
            <a:chExt cx="199948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answer includes the exact document section it came from — fully traceable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7766700"/>
            <a:ext cx="14996160" cy="595573"/>
            <a:chOff x="0" y="0"/>
            <a:chExt cx="19994880" cy="7940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Remembers your session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8351916"/>
            <a:ext cx="14996160" cy="512064"/>
            <a:chOff x="0" y="0"/>
            <a:chExt cx="199948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Maintains chat history so you can ask follow-up questions naturally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Business Problem It Solves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5920" y="2524897"/>
            <a:ext cx="14996160" cy="595573"/>
            <a:chOff x="0" y="0"/>
            <a:chExt cx="19994880" cy="794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Document overload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" y="3110113"/>
            <a:ext cx="14996160" cy="512064"/>
            <a:chOff x="0" y="0"/>
            <a:chExt cx="19994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Organisations store thousands of PDFs — finding one answer takes far too long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4262257"/>
            <a:ext cx="14996160" cy="595573"/>
            <a:chOff x="0" y="0"/>
            <a:chExt cx="19994880" cy="794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Inefficient search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920" y="4847473"/>
            <a:ext cx="14996160" cy="512064"/>
            <a:chOff x="0" y="0"/>
            <a:chExt cx="199948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 scan files manually, wasting hours that could go to productive work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5999617"/>
            <a:ext cx="14996160" cy="595573"/>
            <a:chOff x="0" y="0"/>
            <a:chExt cx="19994880" cy="7940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Knowledge locked away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6584833"/>
            <a:ext cx="14996160" cy="512064"/>
            <a:chOff x="0" y="0"/>
            <a:chExt cx="199948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information sits in documents that nobody reads or can easily find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7736977"/>
            <a:ext cx="14996160" cy="595573"/>
            <a:chOff x="0" y="0"/>
            <a:chExt cx="19994880" cy="7940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794097"/>
            </a:xfrm>
            <a:custGeom>
              <a:avLst/>
              <a:gdLst/>
              <a:ahLst/>
              <a:cxnLst/>
              <a:rect r="r" b="b" t="t" l="l"/>
              <a:pathLst>
                <a:path h="79409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94097"/>
                  </a:lnTo>
                  <a:lnTo>
                    <a:pt x="0" y="794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561" r="0" b="-4366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9994880" cy="851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 Lost productivity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8322193"/>
            <a:ext cx="14996160" cy="512064"/>
            <a:chOff x="0" y="0"/>
            <a:chExt cx="199948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Employees spend up to 20% of their time just searching for information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Challenges &amp; How We Solved Them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7458" y="2672981"/>
            <a:ext cx="15753083" cy="1945643"/>
            <a:chOff x="0" y="0"/>
            <a:chExt cx="21004111" cy="2594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45915" y="2905134"/>
            <a:ext cx="14996160" cy="619552"/>
            <a:chOff x="0" y="0"/>
            <a:chExt cx="19994880" cy="8260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Retrieval Inaccuracies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45915" y="3526926"/>
            <a:ext cx="14996160" cy="877824"/>
            <a:chOff x="0" y="0"/>
            <a:chExt cx="19994880" cy="117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Improved document chunking strategy and added step-by-step retrieval debugging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7458" y="4904117"/>
            <a:ext cx="15753083" cy="1945643"/>
            <a:chOff x="0" y="0"/>
            <a:chExt cx="21004111" cy="2594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45915" y="5136270"/>
            <a:ext cx="14996160" cy="619552"/>
            <a:chOff x="0" y="0"/>
            <a:chExt cx="19994880" cy="8260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Library Conflicts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15" y="5758062"/>
            <a:ext cx="14996160" cy="877824"/>
            <a:chOff x="0" y="0"/>
            <a:chExt cx="19994880" cy="11704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Updated all dependencies and resolved compatibility issues for a stable build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7458" y="7135253"/>
            <a:ext cx="15753083" cy="1945643"/>
            <a:chOff x="0" y="0"/>
            <a:chExt cx="2100411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04149" cy="2594229"/>
            </a:xfrm>
            <a:custGeom>
              <a:avLst/>
              <a:gdLst/>
              <a:ahLst/>
              <a:cxnLst/>
              <a:rect r="r" b="b" t="t" l="l"/>
              <a:pathLst>
                <a:path h="2594229" w="21004149">
                  <a:moveTo>
                    <a:pt x="0" y="0"/>
                  </a:moveTo>
                  <a:lnTo>
                    <a:pt x="21004149" y="0"/>
                  </a:lnTo>
                  <a:lnTo>
                    <a:pt x="21004149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15" y="7367406"/>
            <a:ext cx="14996160" cy="619552"/>
            <a:chOff x="0" y="0"/>
            <a:chExt cx="19994880" cy="8260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826069"/>
            </a:xfrm>
            <a:custGeom>
              <a:avLst/>
              <a:gdLst/>
              <a:ahLst/>
              <a:cxnLst/>
              <a:rect r="r" b="b" t="t" l="l"/>
              <a:pathLst>
                <a:path h="826069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306" r="0" b="-4129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99948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 ·  UI &amp; Persistence Bugs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15" y="7989198"/>
            <a:ext cx="14996160" cy="877824"/>
            <a:chOff x="0" y="0"/>
            <a:chExt cx="1999488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99488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Used Streamlit session state and unique widget keys; added local persistent storage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Technologies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4480" y="2926385"/>
            <a:ext cx="14996160" cy="5597871"/>
            <a:chOff x="0" y="0"/>
            <a:chExt cx="19994880" cy="74638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94880" cy="7463827"/>
            </a:xfrm>
            <a:custGeom>
              <a:avLst/>
              <a:gdLst/>
              <a:ahLst/>
              <a:cxnLst/>
              <a:rect r="r" b="b" t="t" l="l"/>
              <a:pathLst>
                <a:path h="7463827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463827"/>
                  </a:lnTo>
                  <a:lnTo>
                    <a:pt x="0" y="7463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98" r="0" b="429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9994880" cy="7549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63593" indent="-431796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63593" indent="-431796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API + Llama 3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63593" indent="-431796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LangChain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63593" indent="-431796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ChromaDB + HuggingFace</a:t>
              </a:r>
            </a:p>
            <a:p>
              <a:pPr algn="l">
                <a:lnSpc>
                  <a:spcPts val="4799"/>
                </a:lnSpc>
              </a:pPr>
            </a:p>
            <a:p>
              <a:pPr algn="l" marL="863593" indent="-431796" lvl="1">
                <a:lnSpc>
                  <a:spcPts val="4799"/>
                </a:lnSpc>
                <a:buFont typeface="Arial"/>
                <a:buChar char="•"/>
              </a:pPr>
              <a:r>
                <a:rPr lang="en-US" sz="3999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Streamlit + PyPDF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480" y="9281465"/>
            <a:ext cx="14996160" cy="548640"/>
            <a:chOff x="0" y="0"/>
            <a:chExt cx="199948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994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" y="10625328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33" r="0" b="-52063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9994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interface and PDF processing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1280160"/>
            <a:ext cx="15727680" cy="1051865"/>
            <a:chOff x="0" y="0"/>
            <a:chExt cx="20970240" cy="1402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1402486"/>
            </a:xfrm>
            <a:custGeom>
              <a:avLst/>
              <a:gdLst/>
              <a:ahLst/>
              <a:cxnLst/>
              <a:rect r="r" b="b" t="t" l="l"/>
              <a:pathLst>
                <a:path h="140248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02486"/>
                  </a:lnTo>
                  <a:lnTo>
                    <a:pt x="0" y="14024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31" r="0" b="-2391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1402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2B4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Business 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2340864"/>
            <a:ext cx="15727680" cy="548640"/>
            <a:chOff x="0" y="0"/>
            <a:chExt cx="209702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571" r="0" b="-5085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70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these systems deliver in the real world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7463" y="2821943"/>
            <a:ext cx="5054603" cy="2402843"/>
            <a:chOff x="0" y="0"/>
            <a:chExt cx="6739471" cy="3203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9509" cy="3203829"/>
            </a:xfrm>
            <a:custGeom>
              <a:avLst/>
              <a:gdLst/>
              <a:ahLst/>
              <a:cxnLst/>
              <a:rect r="r" b="b" t="t" l="l"/>
              <a:pathLst>
                <a:path h="3203829" w="6739509">
                  <a:moveTo>
                    <a:pt x="0" y="0"/>
                  </a:moveTo>
                  <a:lnTo>
                    <a:pt x="6739509" y="0"/>
                  </a:lnTo>
                  <a:lnTo>
                    <a:pt x="67395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160" y="3017520"/>
            <a:ext cx="5029200" cy="1188720"/>
            <a:chOff x="0" y="0"/>
            <a:chExt cx="6705600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67056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 / 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0160" y="4206240"/>
            <a:ext cx="5029200" cy="731520"/>
            <a:chOff x="0" y="0"/>
            <a:chExt cx="6705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70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Availability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98999" y="2821943"/>
            <a:ext cx="5054603" cy="2402843"/>
            <a:chOff x="0" y="0"/>
            <a:chExt cx="6739471" cy="32037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39509" cy="3203829"/>
            </a:xfrm>
            <a:custGeom>
              <a:avLst/>
              <a:gdLst/>
              <a:ahLst/>
              <a:cxnLst/>
              <a:rect r="r" b="b" t="t" l="l"/>
              <a:pathLst>
                <a:path h="3203829" w="6739509">
                  <a:moveTo>
                    <a:pt x="0" y="0"/>
                  </a:moveTo>
                  <a:lnTo>
                    <a:pt x="6739509" y="0"/>
                  </a:lnTo>
                  <a:lnTo>
                    <a:pt x="67395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711696" y="3017520"/>
            <a:ext cx="5029200" cy="1188720"/>
            <a:chOff x="0" y="0"/>
            <a:chExt cx="670560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67056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~80%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11696" y="4206240"/>
            <a:ext cx="5029200" cy="731520"/>
            <a:chOff x="0" y="0"/>
            <a:chExt cx="670560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0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70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Saved on Doc Search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30535" y="2821943"/>
            <a:ext cx="5054603" cy="2402843"/>
            <a:chOff x="0" y="0"/>
            <a:chExt cx="6739471" cy="32037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39509" cy="3203829"/>
            </a:xfrm>
            <a:custGeom>
              <a:avLst/>
              <a:gdLst/>
              <a:ahLst/>
              <a:cxnLst/>
              <a:rect r="r" b="b" t="t" l="l"/>
              <a:pathLst>
                <a:path h="3203829" w="6739509">
                  <a:moveTo>
                    <a:pt x="0" y="0"/>
                  </a:moveTo>
                  <a:lnTo>
                    <a:pt x="6739509" y="0"/>
                  </a:lnTo>
                  <a:lnTo>
                    <a:pt x="67395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43232" y="3017520"/>
            <a:ext cx="5029200" cy="1188720"/>
            <a:chOff x="0" y="0"/>
            <a:chExt cx="670560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67056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43232" y="4206240"/>
            <a:ext cx="5029200" cy="731520"/>
            <a:chOff x="0" y="0"/>
            <a:chExt cx="670560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70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Answers Source-Cited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" y="5669280"/>
            <a:ext cx="7680960" cy="595572"/>
            <a:chOff x="0" y="0"/>
            <a:chExt cx="10241280" cy="794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794096"/>
            </a:xfrm>
            <a:custGeom>
              <a:avLst/>
              <a:gdLst/>
              <a:ahLst/>
              <a:cxnLst/>
              <a:rect r="r" b="b" t="t" l="l"/>
              <a:pathLst>
                <a:path h="794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34" r="0" b="-1973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241280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 Reduced support costs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0160" y="6272784"/>
            <a:ext cx="7680960" cy="1005840"/>
            <a:chOff x="0" y="0"/>
            <a:chExt cx="1024128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241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handles routine queries automatically — no extra staffing needed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18320" y="5669280"/>
            <a:ext cx="7680960" cy="595572"/>
            <a:chOff x="0" y="0"/>
            <a:chExt cx="10241280" cy="794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794096"/>
            </a:xfrm>
            <a:custGeom>
              <a:avLst/>
              <a:gdLst/>
              <a:ahLst/>
              <a:cxnLst/>
              <a:rect r="r" b="b" t="t" l="l"/>
              <a:pathLst>
                <a:path h="794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34" r="0" b="-1973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241280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 Faster decisions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18320" y="6272784"/>
            <a:ext cx="7680960" cy="1005840"/>
            <a:chOff x="0" y="0"/>
            <a:chExt cx="1024128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Leaders get document answers in seconds, not hours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7680960"/>
            <a:ext cx="7680960" cy="595572"/>
            <a:chOff x="0" y="0"/>
            <a:chExt cx="10241280" cy="794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794096"/>
            </a:xfrm>
            <a:custGeom>
              <a:avLst/>
              <a:gdLst/>
              <a:ahLst/>
              <a:cxnLst/>
              <a:rect r="r" b="b" t="t" l="l"/>
              <a:pathLst>
                <a:path h="794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34" r="0" b="-1973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241280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 Better customer experience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0160" y="8284464"/>
            <a:ext cx="7680960" cy="1005840"/>
            <a:chOff x="0" y="0"/>
            <a:chExt cx="1024128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41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Instant, accurate replies at any hour build trust and satisfaction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8320" y="7680960"/>
            <a:ext cx="7680960" cy="595572"/>
            <a:chOff x="0" y="0"/>
            <a:chExt cx="10241280" cy="794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794096"/>
            </a:xfrm>
            <a:custGeom>
              <a:avLst/>
              <a:gdLst/>
              <a:ahLst/>
              <a:cxnLst/>
              <a:rect r="r" b="b" t="t" l="l"/>
              <a:pathLst>
                <a:path h="794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94096"/>
                  </a:lnTo>
                  <a:lnTo>
                    <a:pt x="0" y="794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34" r="0" b="-1973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241280" cy="851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 Scales at no extra cost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8320" y="8284464"/>
            <a:ext cx="7680960" cy="1005840"/>
            <a:chOff x="0" y="0"/>
            <a:chExt cx="1024128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02412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 far more volume without hiring more people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3863340"/>
            <a:ext cx="15727680" cy="2560320"/>
            <a:chOff x="0" y="0"/>
            <a:chExt cx="20970240" cy="3413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97024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6035040"/>
            <a:ext cx="15727680" cy="822960"/>
            <a:chOff x="0" y="0"/>
            <a:chExt cx="2097024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9702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0160" y="8686800"/>
            <a:ext cx="9144000" cy="640080"/>
            <a:chOff x="0" y="0"/>
            <a:chExt cx="121920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DAHK7cWB3u0</dc:identifier>
  <dcterms:modified xsi:type="dcterms:W3CDTF">2011-08-01T06:04:30Z</dcterms:modified>
  <cp:revision>1</cp:revision>
  <dc:title>AI_Portfolio_Clean.pptx</dc:title>
</cp:coreProperties>
</file>